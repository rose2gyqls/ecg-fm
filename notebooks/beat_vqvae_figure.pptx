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24489C"/>
                </a:solidFill>
                <a:latin typeface="Calibri"/>
              </a:rPr>
              <a:t>Beat VQ-VAE Tokenizer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02920"/>
            <a:ext cx="11612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  <a:latin typeface="Calibri"/>
              </a:rPr>
              <a:t>Per-beat latent → nearest codebook entry (EMA-updated) → reconstruction. Red arrow = straight-through gradient for encoder.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83280" y="960120"/>
            <a:ext cx="5486400" cy="1234440"/>
          </a:xfrm>
          <a:prstGeom prst="roundRect">
            <a:avLst>
              <a:gd name="adj" fmla="val 50000"/>
            </a:avLst>
          </a:prstGeom>
          <a:solidFill>
            <a:srgbClr val="FAF6FF"/>
          </a:solidFill>
          <a:ln w="15875">
            <a:solidFill>
              <a:srgbClr val="7E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703320" y="1188720"/>
            <a:ext cx="502920" cy="868680"/>
          </a:xfrm>
          <a:prstGeom prst="rect">
            <a:avLst/>
          </a:prstGeom>
          <a:solidFill>
            <a:srgbClr val="DDD2EE"/>
          </a:solidFill>
          <a:ln w="9525">
            <a:solidFill>
              <a:srgbClr val="7E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3787140" y="1188720"/>
            <a:ext cx="0" cy="868680"/>
          </a:xfrm>
          <a:prstGeom prst="line">
            <a:avLst/>
          </a:prstGeom>
          <a:ln w="6350">
            <a:solidFill>
              <a:srgbClr val="7E69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870960" y="1188720"/>
            <a:ext cx="0" cy="868680"/>
          </a:xfrm>
          <a:prstGeom prst="line">
            <a:avLst/>
          </a:prstGeom>
          <a:ln w="6350">
            <a:solidFill>
              <a:srgbClr val="7E69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954780" y="1188720"/>
            <a:ext cx="0" cy="868680"/>
          </a:xfrm>
          <a:prstGeom prst="line">
            <a:avLst/>
          </a:prstGeom>
          <a:ln w="6350">
            <a:solidFill>
              <a:srgbClr val="7E69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038600" y="1188720"/>
            <a:ext cx="0" cy="868680"/>
          </a:xfrm>
          <a:prstGeom prst="line">
            <a:avLst/>
          </a:prstGeom>
          <a:ln w="6350">
            <a:solidFill>
              <a:srgbClr val="7E69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122420" y="1188720"/>
            <a:ext cx="0" cy="868680"/>
          </a:xfrm>
          <a:prstGeom prst="line">
            <a:avLst/>
          </a:prstGeom>
          <a:ln w="6350">
            <a:solidFill>
              <a:srgbClr val="7E69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703320" y="932688"/>
            <a:ext cx="502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1A1A1A"/>
                </a:solidFill>
                <a:latin typeface="Calibri"/>
              </a:rPr>
              <a:t>e₁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61104" y="1188720"/>
            <a:ext cx="502920" cy="868680"/>
          </a:xfrm>
          <a:prstGeom prst="rect">
            <a:avLst/>
          </a:prstGeom>
          <a:solidFill>
            <a:srgbClr val="DDD2EE"/>
          </a:solidFill>
          <a:ln w="9525">
            <a:solidFill>
              <a:srgbClr val="7E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4344924" y="1188720"/>
            <a:ext cx="0" cy="868680"/>
          </a:xfrm>
          <a:prstGeom prst="line">
            <a:avLst/>
          </a:prstGeom>
          <a:ln w="6350">
            <a:solidFill>
              <a:srgbClr val="7E69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428744" y="1188720"/>
            <a:ext cx="0" cy="868680"/>
          </a:xfrm>
          <a:prstGeom prst="line">
            <a:avLst/>
          </a:prstGeom>
          <a:ln w="6350">
            <a:solidFill>
              <a:srgbClr val="7E69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512564" y="1188720"/>
            <a:ext cx="0" cy="868680"/>
          </a:xfrm>
          <a:prstGeom prst="line">
            <a:avLst/>
          </a:prstGeom>
          <a:ln w="6350">
            <a:solidFill>
              <a:srgbClr val="7E69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596384" y="1188720"/>
            <a:ext cx="0" cy="868680"/>
          </a:xfrm>
          <a:prstGeom prst="line">
            <a:avLst/>
          </a:prstGeom>
          <a:ln w="6350">
            <a:solidFill>
              <a:srgbClr val="7E69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680204" y="1188720"/>
            <a:ext cx="0" cy="868680"/>
          </a:xfrm>
          <a:prstGeom prst="line">
            <a:avLst/>
          </a:prstGeom>
          <a:ln w="6350">
            <a:solidFill>
              <a:srgbClr val="7E69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261104" y="932688"/>
            <a:ext cx="502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1A1A1A"/>
                </a:solidFill>
                <a:latin typeface="Calibri"/>
              </a:rPr>
              <a:t>e₂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18888" y="1188720"/>
            <a:ext cx="502920" cy="868680"/>
          </a:xfrm>
          <a:prstGeom prst="rect">
            <a:avLst/>
          </a:prstGeom>
          <a:solidFill>
            <a:srgbClr val="DDD2EE"/>
          </a:solidFill>
          <a:ln w="9525">
            <a:solidFill>
              <a:srgbClr val="7E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4902708" y="1188720"/>
            <a:ext cx="0" cy="868680"/>
          </a:xfrm>
          <a:prstGeom prst="line">
            <a:avLst/>
          </a:prstGeom>
          <a:ln w="6350">
            <a:solidFill>
              <a:srgbClr val="7E69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986528" y="1188720"/>
            <a:ext cx="0" cy="868680"/>
          </a:xfrm>
          <a:prstGeom prst="line">
            <a:avLst/>
          </a:prstGeom>
          <a:ln w="6350">
            <a:solidFill>
              <a:srgbClr val="7E69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70348" y="1188720"/>
            <a:ext cx="0" cy="868680"/>
          </a:xfrm>
          <a:prstGeom prst="line">
            <a:avLst/>
          </a:prstGeom>
          <a:ln w="6350">
            <a:solidFill>
              <a:srgbClr val="7E69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154168" y="1188720"/>
            <a:ext cx="0" cy="868680"/>
          </a:xfrm>
          <a:prstGeom prst="line">
            <a:avLst/>
          </a:prstGeom>
          <a:ln w="6350">
            <a:solidFill>
              <a:srgbClr val="7E69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237988" y="1188720"/>
            <a:ext cx="0" cy="868680"/>
          </a:xfrm>
          <a:prstGeom prst="line">
            <a:avLst/>
          </a:prstGeom>
          <a:ln w="6350">
            <a:solidFill>
              <a:srgbClr val="7E69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818888" y="932688"/>
            <a:ext cx="502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1A1A1A"/>
                </a:solidFill>
                <a:latin typeface="Calibri"/>
              </a:rPr>
              <a:t>e₃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76672" y="1188720"/>
            <a:ext cx="502920" cy="868680"/>
          </a:xfrm>
          <a:prstGeom prst="rect">
            <a:avLst/>
          </a:prstGeom>
          <a:solidFill>
            <a:srgbClr val="DDD2EE"/>
          </a:solidFill>
          <a:ln w="9525">
            <a:solidFill>
              <a:srgbClr val="7E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5460492" y="1188720"/>
            <a:ext cx="0" cy="868680"/>
          </a:xfrm>
          <a:prstGeom prst="line">
            <a:avLst/>
          </a:prstGeom>
          <a:ln w="6350">
            <a:solidFill>
              <a:srgbClr val="7E69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544312" y="1188720"/>
            <a:ext cx="0" cy="868680"/>
          </a:xfrm>
          <a:prstGeom prst="line">
            <a:avLst/>
          </a:prstGeom>
          <a:ln w="6350">
            <a:solidFill>
              <a:srgbClr val="7E69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628132" y="1188720"/>
            <a:ext cx="0" cy="868680"/>
          </a:xfrm>
          <a:prstGeom prst="line">
            <a:avLst/>
          </a:prstGeom>
          <a:ln w="6350">
            <a:solidFill>
              <a:srgbClr val="7E69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711952" y="1188720"/>
            <a:ext cx="0" cy="868680"/>
          </a:xfrm>
          <a:prstGeom prst="line">
            <a:avLst/>
          </a:prstGeom>
          <a:ln w="6350">
            <a:solidFill>
              <a:srgbClr val="7E69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795772" y="1188720"/>
            <a:ext cx="0" cy="868680"/>
          </a:xfrm>
          <a:prstGeom prst="line">
            <a:avLst/>
          </a:prstGeom>
          <a:ln w="6350">
            <a:solidFill>
              <a:srgbClr val="7E69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376672" y="932688"/>
            <a:ext cx="502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1A1A1A"/>
                </a:solidFill>
                <a:latin typeface="Calibri"/>
              </a:rPr>
              <a:t>e₄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34456" y="1188720"/>
            <a:ext cx="50292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7E69B4"/>
                </a:solidFill>
                <a:latin typeface="Calibri"/>
              </a:rPr>
              <a:t>…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92240" y="1188720"/>
            <a:ext cx="502920" cy="868680"/>
          </a:xfrm>
          <a:prstGeom prst="rect">
            <a:avLst/>
          </a:prstGeom>
          <a:solidFill>
            <a:srgbClr val="DDD2EE"/>
          </a:solidFill>
          <a:ln w="9525">
            <a:solidFill>
              <a:srgbClr val="7E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>
            <a:off x="6576060" y="1188720"/>
            <a:ext cx="0" cy="868680"/>
          </a:xfrm>
          <a:prstGeom prst="line">
            <a:avLst/>
          </a:prstGeom>
          <a:ln w="6350">
            <a:solidFill>
              <a:srgbClr val="7E69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6659880" y="1188720"/>
            <a:ext cx="0" cy="868680"/>
          </a:xfrm>
          <a:prstGeom prst="line">
            <a:avLst/>
          </a:prstGeom>
          <a:ln w="6350">
            <a:solidFill>
              <a:srgbClr val="7E69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6743700" y="1188720"/>
            <a:ext cx="0" cy="868680"/>
          </a:xfrm>
          <a:prstGeom prst="line">
            <a:avLst/>
          </a:prstGeom>
          <a:ln w="6350">
            <a:solidFill>
              <a:srgbClr val="7E69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6827520" y="1188720"/>
            <a:ext cx="0" cy="868680"/>
          </a:xfrm>
          <a:prstGeom prst="line">
            <a:avLst/>
          </a:prstGeom>
          <a:ln w="6350">
            <a:solidFill>
              <a:srgbClr val="7E69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6911340" y="1188720"/>
            <a:ext cx="0" cy="868680"/>
          </a:xfrm>
          <a:prstGeom prst="line">
            <a:avLst/>
          </a:prstGeom>
          <a:ln w="6350">
            <a:solidFill>
              <a:srgbClr val="7E69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6492240" y="932688"/>
            <a:ext cx="502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1A1A1A"/>
                </a:solidFill>
                <a:latin typeface="Calibri"/>
              </a:rPr>
              <a:t>e_K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35240" y="1371600"/>
            <a:ext cx="11887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7E69B4"/>
                </a:solidFill>
                <a:latin typeface="Calibri"/>
              </a:rPr>
              <a:t>Embedding</a:t>
            </a:r>
          </a:p>
          <a:p>
            <a:pPr algn="ctr"/>
            <a:r>
              <a:rPr sz="1000" b="1" i="0">
                <a:solidFill>
                  <a:srgbClr val="7E69B4"/>
                </a:solidFill>
                <a:latin typeface="Calibri"/>
              </a:rPr>
              <a:t>Space</a:t>
            </a:r>
          </a:p>
          <a:p>
            <a:pPr algn="ctr"/>
            <a:r>
              <a:rPr sz="1000" b="1" i="0">
                <a:solidFill>
                  <a:srgbClr val="7E69B4"/>
                </a:solidFill>
                <a:latin typeface="Calibri"/>
              </a:rPr>
              <a:t>(K=512, D=256)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28600" y="3246120"/>
            <a:ext cx="1234440" cy="1463040"/>
          </a:xfrm>
          <a:prstGeom prst="rect">
            <a:avLst/>
          </a:prstGeom>
          <a:solidFill>
            <a:srgbClr val="F3F6FC"/>
          </a:solidFill>
          <a:ln w="9525">
            <a:solidFill>
              <a:srgbClr val="BBC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  <a:r>
              <a:rPr sz="1000" b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28600" y="3429000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24489C"/>
                </a:solidFill>
                <a:latin typeface="Calibri"/>
              </a:rPr>
              <a:t>P   QRS   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8600" y="384048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1A1A1A"/>
                </a:solidFill>
                <a:latin typeface="Calibri"/>
              </a:rPr>
              <a:t>∿‾|\_/‾∿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28600" y="4270248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1">
                <a:solidFill>
                  <a:srgbClr val="555555"/>
                </a:solidFill>
                <a:latin typeface="Calibri"/>
              </a:rPr>
              <a:t>beat segment</a:t>
            </a:r>
          </a:p>
          <a:p>
            <a:pPr algn="ctr"/>
            <a:r>
              <a:rPr sz="800" b="0" i="1">
                <a:solidFill>
                  <a:srgbClr val="555555"/>
                </a:solidFill>
                <a:latin typeface="Calibri"/>
              </a:rPr>
              <a:t>x ∈ ℝ^(B×1×256)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28600" y="4754880"/>
            <a:ext cx="12344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24489C"/>
                </a:solidFill>
                <a:latin typeface="Calibri"/>
              </a:rPr>
              <a:t>Input (per-lead)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691640" y="3429000"/>
            <a:ext cx="1234440" cy="1143000"/>
          </a:xfrm>
          <a:prstGeom prst="roundRect">
            <a:avLst/>
          </a:prstGeom>
          <a:solidFill>
            <a:srgbClr val="E4EEFA"/>
          </a:solidFill>
          <a:ln w="15875">
            <a:solidFill>
              <a:srgbClr val="558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  <a:r>
              <a:rPr sz="1100" b="1">
                <a:solidFill>
                  <a:srgbClr val="24489C"/>
                </a:solidFill>
                <a:latin typeface="Calibri"/>
              </a:rPr>
              <a:t>CNN</a:t>
            </a:r>
          </a:p>
          <a:p>
            <a:pPr algn="ctr"/>
            <a:r>
              <a:rPr sz="1100" b="1">
                <a:solidFill>
                  <a:srgbClr val="24489C"/>
                </a:solidFill>
                <a:latin typeface="Calibri"/>
              </a:rPr>
              <a:t>(Conv1d ×4)</a:t>
            </a:r>
          </a:p>
          <a:p>
            <a:pPr algn="ctr"/>
            <a:r>
              <a:rPr sz="1100" b="1">
                <a:solidFill>
                  <a:srgbClr val="24489C"/>
                </a:solidFill>
                <a:latin typeface="Calibri"/>
              </a:rPr>
              <a:t>BN+GELU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691640" y="4645152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24489C"/>
                </a:solidFill>
                <a:latin typeface="Calibri"/>
              </a:rPr>
              <a:t>Encoder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691640" y="4864608"/>
            <a:ext cx="12344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555555"/>
                </a:solidFill>
                <a:latin typeface="Calibri"/>
              </a:rPr>
              <a:t>(shared, per-lead)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154680" y="3566160"/>
            <a:ext cx="777240" cy="914400"/>
          </a:xfrm>
          <a:prstGeom prst="rect">
            <a:avLst/>
          </a:prstGeom>
          <a:solidFill>
            <a:srgbClr val="C9E2C2"/>
          </a:solidFill>
          <a:ln w="9525">
            <a:solidFill>
              <a:srgbClr val="4F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Parallelogram 50"/>
          <p:cNvSpPr/>
          <p:nvPr/>
        </p:nvSpPr>
        <p:spPr>
          <a:xfrm>
            <a:off x="3154680" y="3401568"/>
            <a:ext cx="777240" cy="164592"/>
          </a:xfrm>
          <a:prstGeom prst="parallelogram">
            <a:avLst/>
          </a:prstGeom>
          <a:solidFill>
            <a:srgbClr val="8FC188"/>
          </a:solidFill>
          <a:ln w="9525">
            <a:solidFill>
              <a:srgbClr val="4F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Parallelogram 51"/>
          <p:cNvSpPr/>
          <p:nvPr/>
        </p:nvSpPr>
        <p:spPr>
          <a:xfrm>
            <a:off x="3931920" y="3483864"/>
            <a:ext cx="164592" cy="914400"/>
          </a:xfrm>
          <a:prstGeom prst="parallelogram">
            <a:avLst/>
          </a:prstGeom>
          <a:solidFill>
            <a:srgbClr val="8FC188"/>
          </a:solidFill>
          <a:ln w="9525">
            <a:solidFill>
              <a:srgbClr val="4F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017520" y="4553712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1A1A1A"/>
                </a:solidFill>
                <a:latin typeface="Calibri"/>
              </a:rPr>
              <a:t>z_e(x)  (B, D=256)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154680" y="3154680"/>
            <a:ext cx="7772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555555"/>
                </a:solidFill>
                <a:latin typeface="Calibri"/>
              </a:rPr>
              <a:t>D</a:t>
            </a:r>
          </a:p>
        </p:txBody>
      </p:sp>
      <p:sp>
        <p:nvSpPr>
          <p:cNvPr id="55" name="Oval 54"/>
          <p:cNvSpPr/>
          <p:nvPr/>
        </p:nvSpPr>
        <p:spPr>
          <a:xfrm>
            <a:off x="4297680" y="3895344"/>
            <a:ext cx="201168" cy="201168"/>
          </a:xfrm>
          <a:prstGeom prst="ellipse">
            <a:avLst/>
          </a:prstGeom>
          <a:solidFill>
            <a:srgbClr val="4D8BD4"/>
          </a:solidFill>
          <a:ln>
            <a:solidFill>
              <a:srgbClr val="4D8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846320" y="3749039"/>
            <a:ext cx="1097280" cy="914400"/>
          </a:xfrm>
          <a:prstGeom prst="rect">
            <a:avLst/>
          </a:prstGeom>
          <a:solidFill>
            <a:srgbClr val="F6EFC9"/>
          </a:solidFill>
          <a:ln w="12700">
            <a:solidFill>
              <a:srgbClr val="BFA0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  <a:r>
              <a:rPr sz="900" b="0">
                <a:solidFill>
                  <a:srgbClr val="1A1A1A"/>
                </a:solidFill>
                <a:latin typeface="Calibri"/>
              </a:rPr>
              <a:t>q(z|x)</a:t>
            </a:r>
          </a:p>
          <a:p>
            <a:pPr algn="ctr"/>
            <a:r>
              <a:rPr sz="900" b="0">
                <a:solidFill>
                  <a:srgbClr val="1A1A1A"/>
                </a:solidFill>
                <a:latin typeface="Calibri"/>
              </a:rPr>
              <a:t/>
            </a:r>
          </a:p>
          <a:p>
            <a:pPr algn="ctr"/>
            <a:r>
              <a:rPr sz="900" b="0">
                <a:solidFill>
                  <a:srgbClr val="1A1A1A"/>
                </a:solidFill>
                <a:latin typeface="Calibri"/>
              </a:rPr>
              <a:t>index ∈ {1…K}</a:t>
            </a:r>
          </a:p>
          <a:p>
            <a:pPr algn="ctr"/>
            <a:r>
              <a:rPr sz="900" b="0">
                <a:solidFill>
                  <a:srgbClr val="1A1A1A"/>
                </a:solidFill>
                <a:latin typeface="Calibri"/>
              </a:rPr>
              <a:t>per beat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846320" y="3520439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555555"/>
                </a:solidFill>
                <a:latin typeface="Calibri"/>
              </a:rPr>
              <a:t>z  (argmin_k ‖z_e − e_k‖²)</a:t>
            </a:r>
          </a:p>
        </p:txBody>
      </p:sp>
      <p:sp>
        <p:nvSpPr>
          <p:cNvPr id="58" name="Oval 57"/>
          <p:cNvSpPr/>
          <p:nvPr/>
        </p:nvSpPr>
        <p:spPr>
          <a:xfrm>
            <a:off x="6172200" y="3895344"/>
            <a:ext cx="201168" cy="201168"/>
          </a:xfrm>
          <a:prstGeom prst="ellipse">
            <a:avLst/>
          </a:prstGeom>
          <a:solidFill>
            <a:srgbClr val="4D8BD4"/>
          </a:solidFill>
          <a:ln>
            <a:solidFill>
              <a:srgbClr val="4D8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675120" y="3566160"/>
            <a:ext cx="777240" cy="914400"/>
          </a:xfrm>
          <a:prstGeom prst="rect">
            <a:avLst/>
          </a:prstGeom>
          <a:solidFill>
            <a:srgbClr val="CEC2E8"/>
          </a:solidFill>
          <a:ln w="9525">
            <a:solidFill>
              <a:srgbClr val="6B59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Parallelogram 59"/>
          <p:cNvSpPr/>
          <p:nvPr/>
        </p:nvSpPr>
        <p:spPr>
          <a:xfrm>
            <a:off x="6675120" y="3401568"/>
            <a:ext cx="777240" cy="164592"/>
          </a:xfrm>
          <a:prstGeom prst="parallelogram">
            <a:avLst/>
          </a:prstGeom>
          <a:solidFill>
            <a:srgbClr val="9D8BCB"/>
          </a:solidFill>
          <a:ln w="9525">
            <a:solidFill>
              <a:srgbClr val="6B59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Parallelogram 60"/>
          <p:cNvSpPr/>
          <p:nvPr/>
        </p:nvSpPr>
        <p:spPr>
          <a:xfrm>
            <a:off x="7452360" y="3483864"/>
            <a:ext cx="164592" cy="914400"/>
          </a:xfrm>
          <a:prstGeom prst="parallelogram">
            <a:avLst/>
          </a:prstGeom>
          <a:solidFill>
            <a:srgbClr val="9D8BCB"/>
          </a:solidFill>
          <a:ln w="9525">
            <a:solidFill>
              <a:srgbClr val="6B59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537960" y="4553712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1A1A1A"/>
                </a:solidFill>
                <a:latin typeface="Calibri"/>
              </a:rPr>
              <a:t>z_q(x)  = e_k*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675120" y="374904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3F2E6F"/>
                </a:solidFill>
                <a:latin typeface="Calibri"/>
              </a:rPr>
              <a:t>e_k*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863840" y="3429000"/>
            <a:ext cx="1234440" cy="1143000"/>
          </a:xfrm>
          <a:prstGeom prst="roundRect">
            <a:avLst/>
          </a:prstGeom>
          <a:solidFill>
            <a:srgbClr val="E4EEFA"/>
          </a:solidFill>
          <a:ln w="15875">
            <a:solidFill>
              <a:srgbClr val="558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  <a:r>
              <a:rPr sz="1100" b="1">
                <a:solidFill>
                  <a:srgbClr val="24489C"/>
                </a:solidFill>
                <a:latin typeface="Calibri"/>
              </a:rPr>
              <a:t>CNN</a:t>
            </a:r>
          </a:p>
          <a:p>
            <a:pPr algn="ctr"/>
            <a:r>
              <a:rPr sz="1100" b="1">
                <a:solidFill>
                  <a:srgbClr val="24489C"/>
                </a:solidFill>
                <a:latin typeface="Calibri"/>
              </a:rPr>
              <a:t>(ConvT1d ×4)</a:t>
            </a:r>
          </a:p>
          <a:p>
            <a:pPr algn="ctr"/>
            <a:r>
              <a:rPr sz="1100" b="1">
                <a:solidFill>
                  <a:srgbClr val="24489C"/>
                </a:solidFill>
                <a:latin typeface="Calibri"/>
              </a:rPr>
              <a:t>BN+GELU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863840" y="4645152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24489C"/>
                </a:solidFill>
                <a:latin typeface="Calibri"/>
              </a:rPr>
              <a:t>Decoder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326880" y="3246120"/>
            <a:ext cx="1234440" cy="1463040"/>
          </a:xfrm>
          <a:prstGeom prst="rect">
            <a:avLst/>
          </a:prstGeom>
          <a:solidFill>
            <a:srgbClr val="F3F6FC"/>
          </a:solidFill>
          <a:ln w="9525">
            <a:solidFill>
              <a:srgbClr val="BBC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  <a:r>
              <a:rPr sz="1000" b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326880" y="3429000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24489C"/>
                </a:solidFill>
                <a:latin typeface="Calibri"/>
              </a:rPr>
              <a:t>P̂   Q̂R̂Ŝ   T̂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326880" y="384048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666666"/>
                </a:solidFill>
                <a:latin typeface="Calibri"/>
              </a:rPr>
              <a:t>∿‾|\_/‾∿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326880" y="4270248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1">
                <a:solidFill>
                  <a:srgbClr val="555555"/>
                </a:solidFill>
                <a:latin typeface="Calibri"/>
              </a:rPr>
              <a:t>p(x | z_q)</a:t>
            </a:r>
          </a:p>
          <a:p>
            <a:pPr algn="ctr"/>
            <a:r>
              <a:rPr sz="800" b="0" i="1">
                <a:solidFill>
                  <a:srgbClr val="555555"/>
                </a:solidFill>
                <a:latin typeface="Calibri"/>
              </a:rPr>
              <a:t>x̂ ∈ ℝ^(B×1×256)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326880" y="4754880"/>
            <a:ext cx="12344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24489C"/>
                </a:solidFill>
                <a:latin typeface="Calibri"/>
              </a:rPr>
              <a:t>Reconstruction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1463040" y="3977639"/>
            <a:ext cx="228600" cy="0"/>
          </a:xfrm>
          <a:prstGeom prst="line">
            <a:avLst/>
          </a:prstGeom>
          <a:ln w="27940">
            <a:solidFill>
              <a:srgbClr val="4D8BD4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2926080" y="3977639"/>
            <a:ext cx="228600" cy="0"/>
          </a:xfrm>
          <a:prstGeom prst="line">
            <a:avLst/>
          </a:prstGeom>
          <a:ln w="27940">
            <a:solidFill>
              <a:srgbClr val="4D8BD4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3931920" y="3977639"/>
            <a:ext cx="365760" cy="18289.0"/>
          </a:xfrm>
          <a:prstGeom prst="line">
            <a:avLst/>
          </a:prstGeom>
          <a:ln w="27940">
            <a:solidFill>
              <a:srgbClr val="4D8BD4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4498848" y="3977639"/>
            <a:ext cx="347472" cy="18289.0"/>
          </a:xfrm>
          <a:prstGeom prst="line">
            <a:avLst/>
          </a:prstGeom>
          <a:ln w="27940">
            <a:solidFill>
              <a:srgbClr val="4D8BD4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5943600" y="3977639"/>
            <a:ext cx="228600" cy="18289.0"/>
          </a:xfrm>
          <a:prstGeom prst="line">
            <a:avLst/>
          </a:prstGeom>
          <a:ln w="27940">
            <a:solidFill>
              <a:srgbClr val="4D8BD4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6373368" y="3977639"/>
            <a:ext cx="301752" cy="18289.0"/>
          </a:xfrm>
          <a:prstGeom prst="line">
            <a:avLst/>
          </a:prstGeom>
          <a:ln w="27940">
            <a:solidFill>
              <a:srgbClr val="4D8BD4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7452360" y="3977639"/>
            <a:ext cx="411480" cy="0"/>
          </a:xfrm>
          <a:prstGeom prst="line">
            <a:avLst/>
          </a:prstGeom>
          <a:ln w="27940">
            <a:solidFill>
              <a:srgbClr val="4D8BD4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9098280" y="3977639"/>
            <a:ext cx="228600" cy="0"/>
          </a:xfrm>
          <a:prstGeom prst="line">
            <a:avLst/>
          </a:prstGeom>
          <a:ln w="27940">
            <a:solidFill>
              <a:srgbClr val="4D8BD4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6126480.0" y="2194560"/>
            <a:ext cx="146304.0" cy="1700784"/>
          </a:xfrm>
          <a:prstGeom prst="line">
            <a:avLst/>
          </a:prstGeom>
          <a:ln w="22225">
            <a:solidFill>
              <a:srgbClr val="7E69B4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5120640" y="233172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7E69B4"/>
                </a:solidFill>
                <a:latin typeface="Calibri"/>
              </a:rPr>
              <a:t>lookup  e_k*</a:t>
            </a:r>
          </a:p>
        </p:txBody>
      </p:sp>
      <p:cxnSp>
        <p:nvCxnSpPr>
          <p:cNvPr id="81" name="Connector 80"/>
          <p:cNvCxnSpPr/>
          <p:nvPr/>
        </p:nvCxnSpPr>
        <p:spPr>
          <a:xfrm flipV="1">
            <a:off x="4398264.0" y="2194560"/>
            <a:ext cx="1453896.0" cy="1700784"/>
          </a:xfrm>
          <a:prstGeom prst="line">
            <a:avLst/>
          </a:prstGeom>
          <a:ln w="19050">
            <a:solidFill>
              <a:srgbClr val="7E69B4"/>
            </a:solidFill>
            <a:tailEnd type="triangle" w="med" h="med"/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4389120" y="233172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7E69B4"/>
                </a:solidFill>
                <a:latin typeface="Calibri"/>
              </a:rPr>
              <a:t>distance to all e_k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543300" y="4837175"/>
            <a:ext cx="3520440" cy="18288"/>
          </a:xfrm>
          <a:prstGeom prst="rect">
            <a:avLst/>
          </a:prstGeom>
          <a:solidFill>
            <a:srgbClr val="D1433A"/>
          </a:solidFill>
          <a:ln>
            <a:solidFill>
              <a:srgbClr val="D14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054596" y="4480560"/>
            <a:ext cx="18288" cy="365759"/>
          </a:xfrm>
          <a:prstGeom prst="rect">
            <a:avLst/>
          </a:prstGeom>
          <a:solidFill>
            <a:srgbClr val="D1433A"/>
          </a:solidFill>
          <a:ln>
            <a:solidFill>
              <a:srgbClr val="D14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5" name="Connector 84"/>
          <p:cNvCxnSpPr/>
          <p:nvPr/>
        </p:nvCxnSpPr>
        <p:spPr>
          <a:xfrm flipV="1">
            <a:off x="3543300.0" y="4498848"/>
            <a:ext cx="0.0" cy="347471"/>
          </a:xfrm>
          <a:prstGeom prst="line">
            <a:avLst/>
          </a:prstGeom>
          <a:ln w="27940">
            <a:solidFill>
              <a:srgbClr val="D1433A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Box 85"/>
          <p:cNvSpPr txBox="1"/>
          <p:nvPr/>
        </p:nvSpPr>
        <p:spPr>
          <a:xfrm>
            <a:off x="4206240" y="4892039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1">
                <a:solidFill>
                  <a:srgbClr val="D1433A"/>
                </a:solidFill>
                <a:latin typeface="Calibri"/>
              </a:rPr>
              <a:t>∇_z L   (straight-through)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228600" y="5669280"/>
            <a:ext cx="11750040" cy="1005840"/>
          </a:xfrm>
          <a:prstGeom prst="roundRect">
            <a:avLst/>
          </a:prstGeom>
          <a:solidFill>
            <a:srgbClr val="FFF2CC"/>
          </a:solidFill>
          <a:ln w="9525">
            <a:solidFill>
              <a:srgbClr val="C9A62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  <a:r>
              <a:rPr sz="1000" b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28600" y="5724144"/>
            <a:ext cx="117500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24489C"/>
                </a:solidFill>
                <a:latin typeface="Calibri"/>
              </a:rPr>
              <a:t>Training Objective    L_total = L_rec + α · L_vq + β · L_fid     (α = 1.0, β = 0.5)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11480" y="6035040"/>
            <a:ext cx="3749039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  <a:r>
              <a:rPr sz="1000" b="0">
                <a:solidFill>
                  <a:srgbClr val="1A1A1A"/>
                </a:solidFill>
                <a:latin typeface="Calibri"/>
              </a:rPr>
              <a:t>L_rec = MSE(x̂, x)   —  waveform reconstruction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251959" y="6035040"/>
            <a:ext cx="3749039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  <a:r>
              <a:rPr sz="1000" b="0">
                <a:solidFill>
                  <a:srgbClr val="1A1A1A"/>
                </a:solidFill>
                <a:latin typeface="Calibri"/>
              </a:rPr>
              <a:t>L_vq = β_c · MSE(sg[z_q], z_e)   —  commitment (EMA-updated codebook, γ=0.99)</a:t>
            </a:r>
          </a:p>
        </p:txBody>
      </p:sp>
      <p:sp>
        <p:nvSpPr>
          <p:cNvPr id="91" name="Rectangle 90"/>
          <p:cNvSpPr/>
          <p:nvPr/>
        </p:nvSpPr>
        <p:spPr>
          <a:xfrm>
            <a:off x="8092438" y="6035040"/>
            <a:ext cx="3749039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  <a:r>
              <a:rPr sz="1000" b="0">
                <a:solidFill>
                  <a:srgbClr val="1A1A1A"/>
                </a:solidFill>
                <a:latin typeface="Calibri"/>
              </a:rPr>
              <a:t>L_fid = MSE(∇x̂, ∇x)   —  preserves P / QRS / T sharpness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28600" y="6720840"/>
            <a:ext cx="11750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  <a:latin typeface="Calibri"/>
              </a:rPr>
              <a:t>Diagnostics: perplexity, codebook usage.    Inference:  encode(x) → (z_q, indices)  — used as Phase-3 pretrain token IDs.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